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8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589520" y="1005840"/>
            <a:ext cx="4389120" cy="4389120"/>
          </a:xfrm>
          <a:prstGeom prst="arc">
            <a:avLst/>
          </a:prstGeom>
          <a:solidFill>
            <a:srgbClr val="0C2340">
              <a:alpha val="0"/>
            </a:srgbClr>
          </a:solidFill>
          <a:ln w="15240">
            <a:solidFill>
              <a:srgbClr val="2A5B8C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30768" y="1828800"/>
            <a:ext cx="2743200" cy="2743200"/>
          </a:xfrm>
          <a:prstGeom prst="ellipse">
            <a:avLst/>
          </a:prstGeom>
          <a:solidFill>
            <a:srgbClr val="0057B8">
              <a:alpha val="67000"/>
            </a:srgbClr>
          </a:solidFill>
          <a:ln w="12700">
            <a:solidFill>
              <a:srgbClr val="5796DE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0032" y="1417320"/>
            <a:ext cx="237744" cy="237744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173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Cadrage produit,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UX et communication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4944" y="2788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6D6"/>
                </a:solidFill>
              </a:rPr>
              <a:t>Construire une experience qui transforme la curiosite en candidatures.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" y="3657600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739896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70" kern="0" dirty="0">
                <a:solidFill>
                  <a:srgbClr val="0C2340"/>
                </a:solidFill>
              </a:rPr>
              <a:t>REUNION DE DECISION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694944" y="58521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B400"/>
                </a:solidFill>
              </a:rPr>
              <a:t>HACK TANK  /  JCI SOUSSE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61738A"/>
                </a:solidFill>
              </a:rPr>
              <a:t>01 / POURQUOI CE CADRAGE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3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Avant le developpement,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choisir ce que nous voulons provoquer.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542032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4DB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B8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0233B"/>
                </a:solidFill>
              </a:rPr>
              <a:t>PRODUIT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80390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B"/>
                </a:solidFill>
              </a:rPr>
              <a:t>Ce que le site permet de faire.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0740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Parcours, inscription, informations.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02152" y="2743200"/>
            <a:ext cx="2542032" cy="2240280"/>
          </a:xfrm>
          <a:prstGeom prst="rect">
            <a:avLst/>
          </a:prstGeom>
          <a:solidFill>
            <a:srgbClr val="0057B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400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85032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</a:rPr>
              <a:t>UX &amp;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85032" y="380390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Comment les gens le ressentent.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85032" y="440740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5F6"/>
                </a:solidFill>
              </a:rPr>
              <a:t>Clarte, confiance, desir de participer.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64224" y="2743200"/>
            <a:ext cx="2542032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4DB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B8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47104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0233B"/>
                </a:solidFill>
              </a:rPr>
              <a:t>COMMUNICATION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47104" y="380390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B"/>
                </a:solidFill>
              </a:rPr>
              <a:t>Comment Hack Tank rayonne.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47104" y="440740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Positionnement, contenu, sponsors.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26296" y="2743200"/>
            <a:ext cx="2542032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4DB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9176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B8"/>
                </a:solidFill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09176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0233B"/>
                </a:solidFill>
              </a:rPr>
              <a:t>TECHNIQUE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09176" y="380390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B"/>
                </a:solidFill>
              </a:rPr>
              <a:t>Comment le site fonctionne.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09176" y="440740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Donnees, emails, hebergement, securite.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8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91A7BD"/>
                </a:solidFill>
              </a:rPr>
              <a:t>02 / LE PARCOURS PRINCIPAL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site qui mene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decouverte a la candidature.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82496" y="3749040"/>
            <a:ext cx="1216152" cy="0"/>
          </a:xfrm>
          <a:prstGeom prst="line">
            <a:avLst/>
          </a:prstGeom>
          <a:noFill/>
          <a:ln w="13970">
            <a:solidFill>
              <a:srgbClr val="50789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3145536"/>
            <a:ext cx="1143000" cy="1143000"/>
          </a:xfrm>
          <a:prstGeom prst="ellipse">
            <a:avLst/>
          </a:prstGeom>
          <a:solidFill>
            <a:srgbClr val="183B60"/>
          </a:solidFill>
          <a:ln w="12700">
            <a:solidFill>
              <a:srgbClr val="2E5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5021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457200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4B400"/>
                </a:solidFill>
              </a:rPr>
              <a:t>DECOUVRIR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4919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6C8D9"/>
                </a:solidFill>
              </a:rPr>
              <a:t>La promesse, la date, le lieu.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68496" y="3749040"/>
            <a:ext cx="1216152" cy="0"/>
          </a:xfrm>
          <a:prstGeom prst="line">
            <a:avLst/>
          </a:prstGeom>
          <a:noFill/>
          <a:ln w="13970">
            <a:solidFill>
              <a:srgbClr val="50789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44368" y="3145536"/>
            <a:ext cx="1143000" cy="1143000"/>
          </a:xfrm>
          <a:prstGeom prst="ellipse">
            <a:avLst/>
          </a:prstGeom>
          <a:solidFill>
            <a:srgbClr val="183B60"/>
          </a:solidFill>
          <a:ln w="12700">
            <a:solidFill>
              <a:srgbClr val="2E5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35021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61488" y="457200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4B400"/>
                </a:solidFill>
              </a:rPr>
              <a:t>COMPRENDRE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06624" y="4919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6C8D9"/>
                </a:solidFill>
              </a:rPr>
              <a:t>Tracks, prix, programme, mentors.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54496" y="3749040"/>
            <a:ext cx="1216152" cy="0"/>
          </a:xfrm>
          <a:prstGeom prst="line">
            <a:avLst/>
          </a:prstGeom>
          <a:noFill/>
          <a:ln w="13970">
            <a:solidFill>
              <a:srgbClr val="50789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30368" y="3145536"/>
            <a:ext cx="1143000" cy="1143000"/>
          </a:xfrm>
          <a:prstGeom prst="ellipse">
            <a:avLst/>
          </a:prstGeom>
          <a:solidFill>
            <a:srgbClr val="183B60"/>
          </a:solidFill>
          <a:ln w="12700">
            <a:solidFill>
              <a:srgbClr val="2E5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35021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457200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4B400"/>
                </a:solidFill>
              </a:rPr>
              <a:t>SE RASSURER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92624" y="4919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6C8D9"/>
                </a:solidFill>
              </a:rPr>
              <a:t>FAQ, partenaires, criteres.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40496" y="3749040"/>
            <a:ext cx="1216152" cy="0"/>
          </a:xfrm>
          <a:prstGeom prst="line">
            <a:avLst/>
          </a:prstGeom>
          <a:noFill/>
          <a:ln w="13970">
            <a:solidFill>
              <a:srgbClr val="50789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16368" y="3145536"/>
            <a:ext cx="1143000" cy="11430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35021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340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33488" y="457200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4B400"/>
                </a:solidFill>
              </a:rPr>
              <a:t>S'INSCRIRE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78624" y="4919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6C8D9"/>
                </a:solidFill>
              </a:rPr>
              <a:t>Profil, competences, equipe, idee.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02368" y="3145536"/>
            <a:ext cx="1143000" cy="1143000"/>
          </a:xfrm>
          <a:prstGeom prst="ellipse">
            <a:avLst/>
          </a:prstGeom>
          <a:solidFill>
            <a:srgbClr val="183B60"/>
          </a:solidFill>
          <a:ln w="12700">
            <a:solidFill>
              <a:srgbClr val="2E5F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02368" y="35021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19488" y="457200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4B400"/>
                </a:solidFill>
              </a:rPr>
              <a:t>SE PREPARER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564624" y="4919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6C8D9"/>
                </a:solidFill>
              </a:rPr>
              <a:t>Confirmation et prochaines etapes.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61738A"/>
                </a:solidFill>
              </a:rPr>
              <a:t>03 / PRIORITE PRODUIT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3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L'inscription est le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coeur du site.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</a:rPr>
              <a:t>Elle transforme un visiteur interesse en candidat identifiable. Elle doit etre courte, rassurante et parfaite sur mobile.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2971800"/>
            <a:ext cx="4800600" cy="438912"/>
          </a:xfrm>
          <a:prstGeom prst="rect">
            <a:avLst/>
          </a:prstGeom>
          <a:solidFill>
            <a:srgbClr val="0057B8"/>
          </a:solidFill>
          <a:ln w="7620">
            <a:solidFill>
              <a:srgbClr val="005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6288" y="309981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06640" y="30632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Participant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15400" y="308152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9FC"/>
                </a:solidFill>
              </a:rPr>
              <a:t>Contact et eligibilite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3547872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3675888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06640" y="363931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33B"/>
                </a:solidFill>
              </a:rPr>
              <a:t>Profil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15400" y="365760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38A"/>
                </a:solidFill>
              </a:rPr>
              <a:t>Experience et contexte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4123944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4251960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06640" y="421538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33B"/>
                </a:solidFill>
              </a:rPr>
              <a:t>Competences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15400" y="423367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38A"/>
                </a:solidFill>
              </a:rPr>
              <a:t>Pour former les equipes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4700016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482803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06640" y="47914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33B"/>
                </a:solidFill>
              </a:rPr>
              <a:t>Equipe &amp; idee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15400" y="480974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38A"/>
                </a:solidFill>
              </a:rPr>
              <a:t>Optionnelle mais utile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5276088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9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540410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06640" y="53675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33B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15400" y="53858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38A"/>
                </a:solidFill>
              </a:rPr>
              <a:t>Reglement et confirmation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739896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657600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Accepter les candidatures individuelles et les equipes deja formees.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334256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251960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Ne pas obliger une personne a avoir deja une idee pour s'inscrire.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928616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846320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Envoyer une confirmation email et expliquer la suite.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61738A"/>
                </a:solidFill>
              </a:rPr>
              <a:t>04 / PERIMETRE A VALIDER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3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le site doit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faire des la premiere version.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3401568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23160"/>
            <a:ext cx="3401568" cy="11887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8529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57B8"/>
                </a:solidFill>
              </a:rPr>
              <a:t>INDISPENSABLE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" y="3419856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33756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Accueil et promesse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867912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785616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Inscription multi-etapes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4315968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23367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Programme / timeline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4764024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68172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Tracks et prix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5212080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129784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FAQ et contact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2423160"/>
            <a:ext cx="3401568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423160"/>
            <a:ext cx="3401568" cy="118872"/>
          </a:xfrm>
          <a:prstGeom prst="rect">
            <a:avLst/>
          </a:prstGeom>
          <a:solidFill>
            <a:srgbClr val="48A47C"/>
          </a:solidFill>
          <a:ln w="12700">
            <a:solidFill>
              <a:srgbClr val="48A4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8529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8A47C"/>
                </a:solidFill>
              </a:rPr>
              <a:t>IMPORTANT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3419856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33756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Mentors et jury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1728" y="3867912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785616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Sponsors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1728" y="4315968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423367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Criteres d'evaluation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1728" y="4764024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468172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Email de confirmation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21040" y="2423160"/>
            <a:ext cx="3401568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423160"/>
            <a:ext cx="3401568" cy="11887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22208" y="28529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B400"/>
                </a:solidFill>
              </a:rPr>
              <a:t>OPTIONNEL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22208" y="3419856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23376" y="333756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Mise en relation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22208" y="3867912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23376" y="3785616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Mur d'idees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22208" y="4315968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23376" y="423367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Espace participant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22208" y="4764024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23376" y="468172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B"/>
                </a:solidFill>
              </a:rPr>
              <a:t>Compte a rebours live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8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91A7BD"/>
                </a:solidFill>
              </a:rPr>
              <a:t>05 / DIRECTION ARTISTIQUE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Cinq styles populaires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choisir selon la promesse de Hack Tank.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3429000" cy="1444752"/>
          </a:xfrm>
          <a:prstGeom prst="rect">
            <a:avLst/>
          </a:prstGeom>
          <a:solidFill>
            <a:srgbClr val="102D4C"/>
          </a:solidFill>
          <a:ln w="7620">
            <a:solidFill>
              <a:srgbClr val="315D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06040"/>
            <a:ext cx="91440" cy="144475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8072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0057B8"/>
                </a:solidFill>
              </a:rPr>
              <a:t>STARTUP PREMIUM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" y="31363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Ambitieux, net, international.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593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9"/>
                </a:solidFill>
              </a:rPr>
              <a:t>Stripe / Linear / Vercel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53128" y="2606040"/>
            <a:ext cx="3429000" cy="1444752"/>
          </a:xfrm>
          <a:prstGeom prst="rect">
            <a:avLst/>
          </a:prstGeom>
          <a:solidFill>
            <a:srgbClr val="102D4C"/>
          </a:solidFill>
          <a:ln w="7620">
            <a:solidFill>
              <a:srgbClr val="315D8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2606040"/>
            <a:ext cx="91440" cy="1444752"/>
          </a:xfrm>
          <a:prstGeom prst="rect">
            <a:avLst/>
          </a:prstGeom>
          <a:solidFill>
            <a:srgbClr val="4387C9"/>
          </a:solidFill>
          <a:ln w="12700">
            <a:solidFill>
              <a:srgbClr val="4387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8072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4387C9"/>
                </a:solidFill>
              </a:rPr>
              <a:t>TECH FUTURISTE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31363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Energie, IA, experimentation.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3593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9"/>
                </a:solidFill>
              </a:rPr>
              <a:t>GitHub Universe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47888" y="2606040"/>
            <a:ext cx="3429000" cy="1444752"/>
          </a:xfrm>
          <a:prstGeom prst="rect">
            <a:avLst/>
          </a:prstGeom>
          <a:solidFill>
            <a:srgbClr val="102D4C"/>
          </a:solidFill>
          <a:ln w="7620">
            <a:solidFill>
              <a:srgbClr val="315D8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7888" y="2606040"/>
            <a:ext cx="91440" cy="1444752"/>
          </a:xfrm>
          <a:prstGeom prst="rect">
            <a:avLst/>
          </a:prstGeom>
          <a:solidFill>
            <a:srgbClr val="48A47C"/>
          </a:solidFill>
          <a:ln w="12700">
            <a:solidFill>
              <a:srgbClr val="48A4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28072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48A47C"/>
                </a:solidFill>
              </a:rPr>
              <a:t>CONFERENCE EDITORIALE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76488" y="31363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Speakers et programme au premier plan.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76488" y="3593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9"/>
                </a:solidFill>
              </a:rPr>
              <a:t>Web Summit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8368" y="4617720"/>
            <a:ext cx="3429000" cy="1444752"/>
          </a:xfrm>
          <a:prstGeom prst="rect">
            <a:avLst/>
          </a:prstGeom>
          <a:solidFill>
            <a:srgbClr val="102D4C"/>
          </a:solidFill>
          <a:ln w="7620">
            <a:solidFill>
              <a:srgbClr val="315D8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617720"/>
            <a:ext cx="91440" cy="1444752"/>
          </a:xfrm>
          <a:prstGeom prst="rect">
            <a:avLst/>
          </a:prstGeom>
          <a:solidFill>
            <a:srgbClr val="E66848"/>
          </a:solidFill>
          <a:ln w="12700">
            <a:solidFill>
              <a:srgbClr val="E668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8188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E66848"/>
                </a:solidFill>
              </a:rPr>
              <a:t>JEUNE &amp; ENERGIQUE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" y="51480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Humain, accessible, communautaire.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" y="560527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9"/>
                </a:solidFill>
              </a:rPr>
              <a:t>Evenements universitaires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53128" y="4617720"/>
            <a:ext cx="3429000" cy="1444752"/>
          </a:xfrm>
          <a:prstGeom prst="rect">
            <a:avLst/>
          </a:prstGeom>
          <a:solidFill>
            <a:srgbClr val="102D4C"/>
          </a:solidFill>
          <a:ln w="7620">
            <a:solidFill>
              <a:srgbClr val="315D8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53128" y="4617720"/>
            <a:ext cx="91440" cy="14447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48188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F4B400"/>
                </a:solidFill>
              </a:rPr>
              <a:t>INSTITUTIONNEL MODERNE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81728" y="51480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Confiance, clarte, legitimite.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81728" y="560527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9"/>
                </a:solidFill>
              </a:rPr>
              <a:t>Organisations internationales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61738A"/>
                </a:solidFill>
              </a:rPr>
              <a:t>06 / RECOMMANDATION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3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direction recommandee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 Hack Tank.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395728"/>
            <a:ext cx="10972800" cy="196596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788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" kern="0" dirty="0">
                <a:solidFill>
                  <a:srgbClr val="FFFFFF"/>
                </a:solidFill>
              </a:rPr>
              <a:t>STARTUP PREMIUM  +  TECH FUTURISTE  +  IDENTITE JCI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401568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0E3"/>
                </a:solidFill>
              </a:rPr>
              <a:t>Une experience ambitieuse et energique, sans perdre la confiance institutionnelle.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057B8"/>
                </a:solidFill>
              </a:rPr>
              <a:t>BLEU JCI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523036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8A"/>
                </a:solidFill>
              </a:rPr>
              <a:t>Cohesion avec la marque et confiance.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4892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057B8"/>
                </a:solidFill>
              </a:rPr>
              <a:t>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523036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8A"/>
                </a:solidFill>
              </a:rPr>
              <a:t>Accent pour l'inscription, les prix et l'urgence.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4892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057B8"/>
                </a:solidFill>
              </a:rPr>
              <a:t>ANIMATION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523036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8A"/>
                </a:solidFill>
              </a:rPr>
              <a:t>Energie technologique sans surcharger l'information.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52560" y="4892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057B8"/>
                </a:solidFill>
              </a:rPr>
              <a:t>VRAIES PHOTOS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0" y="523036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8A"/>
                </a:solidFill>
              </a:rPr>
              <a:t>Mentors et editions precedentes des que possible.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8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91A7BD"/>
                </a:solidFill>
              </a:rPr>
              <a:t>07 / DECISIONS ATTENDUES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nous devons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valider ensemble aujourd’hui.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532888"/>
            <a:ext cx="320040" cy="3200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15184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2340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Objectif principal de Hack Tank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282696"/>
            <a:ext cx="320040" cy="3200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64992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2340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88720" y="326440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Public cible et langues du site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032504"/>
            <a:ext cx="320040" cy="320040"/>
          </a:xfrm>
          <a:prstGeom prst="ellipse">
            <a:avLst/>
          </a:prstGeom>
          <a:solidFill>
            <a:srgbClr val="1A4168"/>
          </a:solidFill>
          <a:ln w="12700">
            <a:solidFill>
              <a:srgbClr val="3C66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1480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88720" y="401421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Inscription individuelle, equipe, ou les deux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782312"/>
            <a:ext cx="320040" cy="320040"/>
          </a:xfrm>
          <a:prstGeom prst="ellipse">
            <a:avLst/>
          </a:prstGeom>
          <a:solidFill>
            <a:srgbClr val="1A4168"/>
          </a:solidFill>
          <a:ln w="12700">
            <a:solidFill>
              <a:srgbClr val="3C66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86460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88720" y="476402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Idee obligatoire ou non a l'inscription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532888"/>
            <a:ext cx="320040" cy="320040"/>
          </a:xfrm>
          <a:prstGeom prst="ellipse">
            <a:avLst/>
          </a:prstGeom>
          <a:solidFill>
            <a:srgbClr val="1A4168"/>
          </a:solidFill>
          <a:ln w="12700">
            <a:solidFill>
              <a:srgbClr val="3C66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615184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858000" y="25146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Tracks, prix et calendrier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282696"/>
            <a:ext cx="320040" cy="320040"/>
          </a:xfrm>
          <a:prstGeom prst="ellipse">
            <a:avLst/>
          </a:prstGeom>
          <a:solidFill>
            <a:srgbClr val="1A4168"/>
          </a:solidFill>
          <a:ln w="12700">
            <a:solidFill>
              <a:srgbClr val="3C66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364992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58000" y="326440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Direction artistique choisie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4032504"/>
            <a:ext cx="320040" cy="320040"/>
          </a:xfrm>
          <a:prstGeom prst="ellipse">
            <a:avLst/>
          </a:prstGeom>
          <a:solidFill>
            <a:srgbClr val="1A4168"/>
          </a:solidFill>
          <a:ln w="12700">
            <a:solidFill>
              <a:srgbClr val="3C66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11480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8000" y="401421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Responsables de validation contenus / logos / reglement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55080" y="4782312"/>
            <a:ext cx="320040" cy="320040"/>
          </a:xfrm>
          <a:prstGeom prst="ellipse">
            <a:avLst/>
          </a:prstGeom>
          <a:solidFill>
            <a:srgbClr val="1A4168"/>
          </a:solidFill>
          <a:ln w="12700">
            <a:solidFill>
              <a:srgbClr val="3C66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86460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0" y="476402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Destination des donnees d'inscription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83387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B400"/>
                </a:solidFill>
              </a:rPr>
              <a:t>Resultat attendu : une decision claire qui permet de passer a la maquette puis au developpement.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310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61738A"/>
                </a:solidFill>
              </a:rPr>
              <a:t>08 / PROCHAINES ETAPES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3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decision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l'experience en ligne.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67712" y="3749040"/>
            <a:ext cx="640080" cy="0"/>
          </a:xfrm>
          <a:prstGeom prst="line">
            <a:avLst/>
          </a:prstGeom>
          <a:noFill/>
          <a:ln w="12700">
            <a:solidFill>
              <a:srgbClr val="B5C0C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400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3355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57B8"/>
                </a:solidFill>
              </a:rPr>
              <a:t>VALIDER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38A"/>
                </a:solidFill>
              </a:rPr>
              <a:t>Le parcours, les contenus prioritaires et le style.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17136" y="3749040"/>
            <a:ext cx="640080" cy="0"/>
          </a:xfrm>
          <a:prstGeom prst="line">
            <a:avLst/>
          </a:prstGeom>
          <a:noFill/>
          <a:ln w="12700">
            <a:solidFill>
              <a:srgbClr val="B5C0C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935224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400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35224" y="3355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57B8"/>
                </a:solidFill>
              </a:rPr>
              <a:t>PREPARER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35224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38A"/>
                </a:solidFill>
              </a:rPr>
              <a:t>Dates, reglement, prix, bios, photos et logos.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749040"/>
            <a:ext cx="640080" cy="0"/>
          </a:xfrm>
          <a:prstGeom prst="line">
            <a:avLst/>
          </a:prstGeom>
          <a:noFill/>
          <a:ln w="12700">
            <a:solidFill>
              <a:srgbClr val="B5C0C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84648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400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184648" y="3355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57B8"/>
                </a:solidFill>
              </a:rPr>
              <a:t>MAQUETTER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84648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38A"/>
                </a:solidFill>
              </a:rPr>
              <a:t>Une proposition desktop et mobile a approuver.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15984" y="3749040"/>
            <a:ext cx="640080" cy="0"/>
          </a:xfrm>
          <a:prstGeom prst="line">
            <a:avLst/>
          </a:prstGeom>
          <a:noFill/>
          <a:ln w="12700">
            <a:solidFill>
              <a:srgbClr val="B5C0CC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434072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400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34072" y="3355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57B8"/>
                </a:solidFill>
              </a:rPr>
              <a:t>DEVELOPPER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4072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38A"/>
                </a:solidFill>
              </a:rPr>
              <a:t>Formulaire, stockage, emails et site public.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83496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400"/>
                </a:solidFill>
              </a:rPr>
              <a:t>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683496" y="3355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57B8"/>
                </a:solidFill>
              </a:rPr>
              <a:t>LANCER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83496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38A"/>
                </a:solidFill>
              </a:rPr>
              <a:t>Tester, publier et suivre les inscriptions.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5413248"/>
            <a:ext cx="10881360" cy="640080"/>
          </a:xfrm>
          <a:prstGeom prst="rect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63270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Proposition : commencer par le cadrage produit, UX et communication avant de finaliser les choix techniques.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JCI Sousse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Tank - Cadrage produit, UX et communication</dc:title>
  <dc:subject>Cadrage du site Hack Tank</dc:subject>
  <dc:creator>JCI Sousse</dc:creator>
  <cp:lastModifiedBy>JCI Sousse</cp:lastModifiedBy>
  <cp:revision>1</cp:revision>
  <dcterms:created xsi:type="dcterms:W3CDTF">2026-08-31T15:09:25Z</dcterms:created>
  <dcterms:modified xsi:type="dcterms:W3CDTF">2026-08-31T15:09:25Z</dcterms:modified>
</cp:coreProperties>
</file>